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4" d="100"/>
          <a:sy n="124" d="100"/>
        </p:scale>
        <p:origin x="274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22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88720"/>
            <a:ext cx="54864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14300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4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312724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kern="0" spc="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Рани  ·  Алгоритм Сафри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58444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Виявлення завершення у розподілених системах без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глобального стану та спільного годинника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4206240"/>
            <a:ext cx="7589520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35254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 Хохлов  ·  МД-51  ·  ХНУ ім. В.Н. Каразіна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75120" y="1234440"/>
            <a:ext cx="1828800" cy="1828800"/>
          </a:xfrm>
          <a:prstGeom prst="ellipse">
            <a:avLst/>
          </a:prstGeom>
          <a:solidFill>
            <a:srgbClr val="000000"/>
          </a:solidFill>
          <a:ln w="38100">
            <a:solidFill>
              <a:srgbClr val="3D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1920240"/>
            <a:ext cx="1371600" cy="13716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7A7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38544" y="206654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виявлення завершення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4023360" cy="3291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347472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48840"/>
            <a:ext cx="54864" cy="384048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Вузли можуть бути активними або пасивними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88920"/>
            <a:ext cx="54864" cy="384048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Пасивний вузол може знову стати активним від повідомлення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429000"/>
            <a:ext cx="54864" cy="384048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290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глобального спостерігача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069080"/>
            <a:ext cx="54864" cy="384048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6908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Повідомлення «в польоті» невидимі зовні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023360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5270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Рани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1947672"/>
            <a:ext cx="548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Децентралізований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276856"/>
            <a:ext cx="548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2494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Логічні годинники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606040"/>
            <a:ext cx="548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5786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Хвилі від пасивних вузлів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023360" cy="157276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Сафри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3639312"/>
            <a:ext cx="548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Токен-кільце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968496"/>
            <a:ext cx="548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9410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Підрахунок повідомлень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4297680"/>
            <a:ext cx="54864" cy="228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4270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Кольорова модель (white/black)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RANA'S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Логіка виконання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Базові повідомлення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Активні вузли обмінюються basic-повідомленнями. Логічний годинник оновлюється за правилом Lamport: max(local, msg)+1.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5544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Пасивний → ініціює хвилю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94960" y="19385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Щойно вузол стає пасивним — він запускає control-хвилю з поточним значенням wave_clock = clock.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Конкуренція хвиль (Extinction)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35387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вузол отримує control з більшим wave_clock — стара хвиля згасає, вузол перемикається на нову.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154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Виявлення завершення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94960" y="35387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 хвилі отримав усі reply, пасивний і clock == wave_clock → система завершена.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RANA'S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Ключова реалізація: receive_control()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2120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8191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581912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8191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receive_control</a:t>
            </a:r>
            <a:r>
              <a:rPr lang="en-US" sz="10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sender, wave_clock):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Сильніша хвиля — перехоплення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wave_clock &gt; self.wave_clock: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self.wave_clock = wave_clock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self.parent = sender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self.expected_replies = len(self.neighbors) - </a:t>
            </a:r>
            <a:r>
              <a:rPr lang="en-US" sz="1000" dirty="0">
                <a:solidFill>
                  <a:srgbClr val="F0A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 </a:t>
            </a: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self.neighbors: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 != self.parent: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self.transit_messages.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append((neighbor, 'control', ...))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Та сама хвиля — відповісти reply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wave_clock == self.wave_clock: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self.transit_messages.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append((sender, 'reply', self.wave_clock))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146304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146304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Логічний годинник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89320" y="188366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wave_clock порівнюється для визначення актуальності хвилі. Більший = новіший і пріоритетніший.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06440" y="256032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256032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Механізм reply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89320" y="298094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отримання всіх reply та перевірки пасивності й clock == wave_clock — термінація підтверджена.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06440" y="365760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365760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3749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Децентралізованість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89320" y="40782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Будь-який пасивний вузол може ініціювати хвилю. Кілька хвиль конкурують за допомогою Extinction.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SAFRA'S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Логіка виконання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Токен-кільце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Єдиний маркер (token) циркулює по логічному кільцю вузлів 0→1→2→...→n-1→0. Тільки пасивний вузол передає маркер далі.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5544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Підрахунок повідомлень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94960" y="19385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вузол веде message_count (+1 при відправці, -1 при отриманні). При передачі маркера: token.q += message_count.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Кольорова модель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35387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Відправка basic → вузол стає BLACK. При передачі маркера вузол стає WHITE. Якщо вузол BLACK → маркер теж стає BLACK.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154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Умова термінації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94960" y="35387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 (Node 0) перевіряє: token.color == WHITE і token.q + message_count == 0. Якщо ні — новий обхід.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SAFRA'S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Ключова реалізація: process_token()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2120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8191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581912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8191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process_token</a:t>
            </a:r>
            <a:r>
              <a:rPr lang="en-US" sz="10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next_node):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self.is_initiator: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Перевірка умови термінації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(self.color == </a:t>
            </a:r>
            <a:r>
              <a:rPr lang="en-US" sz="10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'white'</a:t>
            </a: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self.token['color'] == </a:t>
            </a:r>
            <a:r>
              <a:rPr lang="en-US" sz="10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'white'</a:t>
            </a: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self.token['q'] + self.message_count == </a:t>
            </a:r>
            <a:r>
              <a:rPr lang="en-US" sz="1000" dirty="0">
                <a:solidFill>
                  <a:srgbClr val="F0A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self.decided = </a:t>
            </a: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A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Фарбування маркера та передача далі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self.token = {'color': </a:t>
            </a:r>
            <a:r>
              <a:rPr lang="en-US" sz="10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'white'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'q': </a:t>
            </a:r>
            <a:r>
              <a:rPr lang="en-US" sz="1000" dirty="0">
                <a:solidFill>
                  <a:srgbClr val="F0A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self.color == </a:t>
            </a: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self.token['color'] = </a:t>
            </a:r>
            <a:r>
              <a:rPr lang="en-US" sz="100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'black'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self.color = </a:t>
            </a:r>
            <a:r>
              <a:rPr lang="en-US" sz="10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'white'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self.transit_messages.append(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(next_node, 'token', self.token.copy()))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146304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146304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умови разом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89320" y="188366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вузол + WHITE маркер + sum лічильників = 0. Всі три умови одночасно → термінація.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06440" y="256032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256032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Чорний маркер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89320" y="298094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вузол відправляв basic — маркер стає BLACK → ще один повний обхід кільця обов'язковий.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06440" y="365760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365760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3749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цикл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89320" y="40782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 скидає маркер (color=white, q=0) і запускає новий обхід, поки умова не виконається.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ПОРІВНЯННЯ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Rana vs Safra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88036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Критерій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69748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269748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874520"/>
            <a:ext cx="288036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745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Топологія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1874520"/>
            <a:ext cx="26974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8745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Довільний граф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874520"/>
            <a:ext cx="26974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8745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Логічне кільце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2377440"/>
            <a:ext cx="2880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774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37560" y="237744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3774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Будь-який пасивний вузол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237744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3774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(Node 0)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2880360"/>
            <a:ext cx="288036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8803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Ключовий механізм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37560" y="2880360"/>
            <a:ext cx="26974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8803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Логічні годинники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хвилі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80760" y="2880360"/>
            <a:ext cx="26974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8803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лічильники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1480" y="3383280"/>
            <a:ext cx="2880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832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Кольори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37560" y="338328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383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використовує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80760" y="338328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383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/ black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вузли та маркер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11480" y="3886200"/>
            <a:ext cx="288036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8862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Повідомлень на раунд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337560" y="3886200"/>
            <a:ext cx="26974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38862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O(E) control+reply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80760" y="3886200"/>
            <a:ext cx="26974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8862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token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11480" y="4389120"/>
            <a:ext cx="2880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3891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Виявлення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337560" y="438912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43891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Кілька вузлів незалежно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080760" y="4389120"/>
            <a:ext cx="2697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43891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ініціатор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ТОПОЛОГІЯ ГРАФІВ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Тестові графи симуляцій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73896" y="1371600"/>
            <a:ext cx="3931920" cy="34747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036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Rana's Algorithm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3683" y="1892808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граф K₃  ·  3 вузли, 3 ребра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2148840"/>
            <a:ext cx="0" cy="130302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148840"/>
            <a:ext cx="752299" cy="130302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9421" y="3451860"/>
            <a:ext cx="1504598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4248" y="1801368"/>
            <a:ext cx="694944" cy="6949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1993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220370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231949" y="3104388"/>
            <a:ext cx="694944" cy="6949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2221" y="32964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2221" y="35067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36547" y="3104388"/>
            <a:ext cx="694944" cy="69494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6819" y="32964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26819" y="35067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201168" cy="20116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5720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 / active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4572000"/>
            <a:ext cx="201168" cy="20116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3" name="Text 21"/>
          <p:cNvSpPr/>
          <p:nvPr/>
        </p:nvSpPr>
        <p:spPr>
          <a:xfrm>
            <a:off x="2724912" y="457200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termination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18888" y="1371600"/>
            <a:ext cx="393192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4036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Safra's Algorithm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983480" y="1976463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Логічне кільце  ·  4 вузли  ·  0→1→2→3→0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2240280"/>
            <a:ext cx="777240" cy="77724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589520" y="3017520"/>
            <a:ext cx="0" cy="77724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812280" y="3794760"/>
            <a:ext cx="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6035040" y="3017520"/>
            <a:ext cx="77724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6400800" y="28803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64808" y="1892808"/>
            <a:ext cx="694944" cy="694944"/>
          </a:xfrm>
          <a:prstGeom prst="ellipse">
            <a:avLst/>
          </a:prstGeom>
          <a:solidFill>
            <a:srgbClr val="993C1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0848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2295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42048" y="2670048"/>
            <a:ext cx="694944" cy="694944"/>
          </a:xfrm>
          <a:prstGeom prst="ellipse">
            <a:avLst/>
          </a:prstGeom>
          <a:solidFill>
            <a:srgbClr val="444441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28620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30723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2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64808" y="3447288"/>
            <a:ext cx="694944" cy="694944"/>
          </a:xfrm>
          <a:prstGeom prst="ellipse">
            <a:avLst/>
          </a:prstGeom>
          <a:solidFill>
            <a:srgbClr val="444441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6393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38496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2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87568" y="2670048"/>
            <a:ext cx="694944" cy="694944"/>
          </a:xfrm>
          <a:prstGeom prst="ellipse">
            <a:avLst/>
          </a:prstGeom>
          <a:solidFill>
            <a:srgbClr val="444441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28620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30723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2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0" y="4572000"/>
            <a:ext cx="201168" cy="201168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45" name="Text 43"/>
          <p:cNvSpPr/>
          <p:nvPr/>
        </p:nvSpPr>
        <p:spPr>
          <a:xfrm>
            <a:off x="5285232" y="457200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initiator (Node 0)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03720" y="4572000"/>
            <a:ext cx="201168" cy="201168"/>
          </a:xfrm>
          <a:prstGeom prst="ellipse">
            <a:avLst/>
          </a:prstGeom>
          <a:solidFill>
            <a:srgbClr val="444441"/>
          </a:solidFill>
          <a:ln/>
        </p:spPr>
      </p:sp>
      <p:sp>
        <p:nvSpPr>
          <p:cNvPr id="47" name="Text 45"/>
          <p:cNvSpPr/>
          <p:nvPr/>
        </p:nvSpPr>
        <p:spPr>
          <a:xfrm>
            <a:off x="7159752" y="4572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node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Тестування симуляторів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023360" cy="3429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Rana's Algorithm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1938528"/>
            <a:ext cx="347472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299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2029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вузли, повний граф K₃. Node 1 та Node 2 активні.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594360" y="3364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steps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Термінацію виявили: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907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 [1, 3]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68880" y="331012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незалежних ініціатори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успішно підтвердили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глобальне завершення.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023360" cy="3429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087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Safra's Algorithm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846320" y="1938528"/>
            <a:ext cx="347472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0299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32120" y="2029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вузли, кільце 0→1→2→3→0. Node 0 та 1 активні.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2514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800" dirty="0"/>
          </a:p>
        </p:txBody>
      </p:sp>
      <p:sp>
        <p:nvSpPr>
          <p:cNvPr id="21" name="Text 19"/>
          <p:cNvSpPr/>
          <p:nvPr/>
        </p:nvSpPr>
        <p:spPr>
          <a:xfrm>
            <a:off x="4846320" y="3364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(2nd run)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0 decided: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9077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331012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Коректна поведінка: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чорний маркер → ще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обхід потрібен.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ВИСНОВКИ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Підсумки роботи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9047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Рани успішно виявив термінацію за 8 control кроків. Вузли 1 і 3 незалежно підтвердили завершення — децентралізований підхід з конкуруючими хвилями працює коректно.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87752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587752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6090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Сафри повернув False — це очікувана і коректна поведінка. Чорний маркер сигналізує про потенційні транзитні повідомлення і вимагає ще одного «чистого» обходу кільця.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758184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758184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313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14223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Обидва алгоритми відповідають своїм теоретичним моделям. Rana — швидший у децентралізованих топологіях. Safra — економніший за трафіком (один маркер), але суворіший до умов підтвердження.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188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 Хохлов  ·  МД-51  ·  ХНУ ім. В.Н. Каразіна  · 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1032</Words>
  <Application>Microsoft Office PowerPoint</Application>
  <PresentationFormat>Екран (16:9)</PresentationFormat>
  <Paragraphs>185</Paragraphs>
  <Slides>10</Slides>
  <Notes>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Termination Detection: Rana &amp; Safra</dc:title>
  <dc:subject>PptxGenJS Presentation</dc:subject>
  <dc:creator>PptxGenJS</dc:creator>
  <cp:lastModifiedBy>Bohdan Khokhlov</cp:lastModifiedBy>
  <cp:revision>2</cp:revision>
  <dcterms:created xsi:type="dcterms:W3CDTF">2026-04-13T08:02:48Z</dcterms:created>
  <dcterms:modified xsi:type="dcterms:W3CDTF">2026-04-21T11:31:30Z</dcterms:modified>
</cp:coreProperties>
</file>