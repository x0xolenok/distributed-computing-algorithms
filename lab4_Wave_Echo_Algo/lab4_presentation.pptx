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280160"/>
            <a:ext cx="54864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234440"/>
            <a:ext cx="5943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Розподілені</a:t>
            </a:r>
            <a:endParaRPr lang="en-US" sz="5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Алгоритми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77240" y="3566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spc="300" kern="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Wave &amp; Echo Algorithm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77240" y="4160520"/>
            <a:ext cx="7589520" cy="0"/>
          </a:xfrm>
          <a:prstGeom prst="line">
            <a:avLst/>
          </a:prstGeom>
          <a:noFill/>
          <a:ln w="12700">
            <a:solidFill>
              <a:srgbClr val="3D3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Богдан Хохлов  ·  МД-51  ·  ХНУ ім. В.Н. Каразіна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0" y="548640"/>
            <a:ext cx="22860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∿</a:t>
            </a:r>
            <a:endParaRPr lang="en-US" sz="2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ЗАВДАННЯ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943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ми реалізували?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81381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63040"/>
            <a:ext cx="4023360" cy="320040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Wave Algorithm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2651760"/>
            <a:ext cx="36576" cy="1554480"/>
          </a:xfrm>
          <a:prstGeom prst="rect">
            <a:avLst/>
          </a:prstGeom>
          <a:solidFill>
            <a:srgbClr val="7A7A7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5176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Децентралізований алгоритм для деревоподібних мереж. Хвиля розповсюджується від листків до центру — без потреби в єдиному ініціаторі.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46320" y="1463040"/>
            <a:ext cx="4023360" cy="320040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0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120640" y="21488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Algorithm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120640" y="2651760"/>
            <a:ext cx="36576" cy="1554480"/>
          </a:xfrm>
          <a:prstGeom prst="rect">
            <a:avLst/>
          </a:prstGeom>
          <a:solidFill>
            <a:srgbClr val="7A7A7A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265176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Централізований алгоритм для довільних графів з циклами. Ініціатор будує остовне дерево та збирає підтвердження від усіх вузлів.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WAVE ALGORITHM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Логіка виконання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630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8288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57276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Ініціалізація листків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3337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Вузли з одним сусідом автоматично відправляють повідомлення своєму єдиному сусіду.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4630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8288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57276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Збір повідомлень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938528"/>
            <a:ext cx="3337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Кожен вузол чекає повідомлень від усіх сусідів, окрім одного (умова N−1).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0632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0632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4290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317296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Хвиля до центру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538728"/>
            <a:ext cx="3337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Щойно умова виконана — вузол передає повідомлення останньому сусіду, хвиля рухається до центру.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30632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0632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4290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94960" y="317296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Рішення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3538728"/>
            <a:ext cx="3337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Вузол, що отримав повідомлення від усіх своїх сусідів, переходить у стан decided.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WAVE ALGORITHM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Ключовий фрагмент реалізації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5212080" cy="338328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81912"/>
            <a:ext cx="146304" cy="14630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581912"/>
            <a:ext cx="146304" cy="146304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581912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745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self.decided: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всі N сусіди відповіли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len(self.received_from) ==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len(self.neighbors):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self.decided = </a:t>
            </a:r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5A4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умова N−1 — відправляємо хвилю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len(self.received_from) ==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0690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len(self.neighbors)</a:t>
            </a:r>
            <a:pPr indent="0" marL="0">
              <a:buNone/>
            </a:pPr>
            <a:r>
              <a:rPr lang="en-US" sz="1000" dirty="0">
                <a:solidFill>
                  <a:srgbClr val="F0A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- 1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target = (self.neighbors -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self.received_from).pop()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6177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self.messages_to_send.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800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append((target, self.node_id))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06440" y="1463040"/>
            <a:ext cx="2926080" cy="9601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06440" y="1463040"/>
            <a:ext cx="45720" cy="9601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8" name="Text 26"/>
          <p:cNvSpPr/>
          <p:nvPr/>
        </p:nvSpPr>
        <p:spPr>
          <a:xfrm>
            <a:off x="5989320" y="15361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Умова N−1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89320" y="1828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Вузол надсилає хвилю, коли отримав відповіді від усіх, крім одного сусіда.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806440" y="2560320"/>
            <a:ext cx="2926080" cy="9601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06440" y="2560320"/>
            <a:ext cx="45720" cy="9601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2" name="Text 30"/>
          <p:cNvSpPr/>
          <p:nvPr/>
        </p:nvSpPr>
        <p:spPr>
          <a:xfrm>
            <a:off x="5989320" y="26334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 decided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89320" y="29260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Виставляється тоді, коли отримано відповіді від абсолютно всіх N сусідів.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806440" y="3657600"/>
            <a:ext cx="2926080" cy="9601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06440" y="3657600"/>
            <a:ext cx="45720" cy="9601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6" name="Text 34"/>
          <p:cNvSpPr/>
          <p:nvPr/>
        </p:nvSpPr>
        <p:spPr>
          <a:xfrm>
            <a:off x="5989320" y="37307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ініціатора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989320" y="4023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 стартує автоматично від листків — повністю децентралізовано.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ALGORITHM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Логіка виконання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630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8288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57276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Ініціатор запускає explore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3337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Єдиний ініціатор розсилає explore-повідомлення всім своїм сусідам.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4630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8288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57276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Фіксація parent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1938528"/>
            <a:ext cx="3337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Перший вузол, що отримав повідомлення, стає активним і фіксує відправника як батька.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0632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0632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4290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317296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Поширення вглиб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538728"/>
            <a:ext cx="3337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Вузол пересилає explore всім сусідам, крім батька. Так будується остовне дерево.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30632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0632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4290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94960" y="317296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до ініціатора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3538728"/>
            <a:ext cx="33375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Після отримання відповідей від усіх сусідів — вузол відправляє echo батькові. Ланцюг піднімається до ініціатора.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ALGORITHM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Ключовий фрагмент реалізації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5212080" cy="338328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81912"/>
            <a:ext cx="146304" cy="14630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581912"/>
            <a:ext cx="146304" cy="146304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581912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745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</a:t>
            </a:r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sender_id):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self.messages_received += </a:t>
            </a:r>
            <a:pPr indent="0" marL="0">
              <a:buNone/>
            </a:pPr>
            <a:r>
              <a:rPr lang="en-US" sz="1000" dirty="0">
                <a:solidFill>
                  <a:srgbClr val="F0A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self.active </a:t>
            </a:r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not self.is_initiator: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self.active = </a:t>
            </a:r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self.parent = sender_id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</a:t>
            </a:r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self.neighbors: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!= self.parent: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self.messages_to_send.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append((n, self.node_id))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echo до батька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0690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self.messages_received ==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len(self.neighbors):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self.messages_to_send.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6177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append((self.parent, ...))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800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self.decided = </a:t>
            </a:r>
            <a:pPr indent="0" marL="0">
              <a:buNone/>
            </a:pPr>
            <a:r>
              <a:rPr lang="en-US" sz="100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06440" y="1463040"/>
            <a:ext cx="2926080" cy="9601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06440" y="1463040"/>
            <a:ext cx="45720" cy="9601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8" name="Text 26"/>
          <p:cNvSpPr/>
          <p:nvPr/>
        </p:nvSpPr>
        <p:spPr>
          <a:xfrm>
            <a:off x="5989320" y="15361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ініціатор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89320" y="1828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Лише один вузол запускає процес — він не має батька і чекає на всі echo.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806440" y="2560320"/>
            <a:ext cx="2926080" cy="9601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06440" y="2560320"/>
            <a:ext cx="45720" cy="9601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2" name="Text 30"/>
          <p:cNvSpPr/>
          <p:nvPr/>
        </p:nvSpPr>
        <p:spPr>
          <a:xfrm>
            <a:off x="5989320" y="26334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Фіксація parent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89320" y="29260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Перше повідомлення — батько. Решта — просто відповіді для лічильника.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806440" y="3657600"/>
            <a:ext cx="2926080" cy="96012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06440" y="3657600"/>
            <a:ext cx="45720" cy="9601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6" name="Text 34"/>
          <p:cNvSpPr/>
          <p:nvPr/>
        </p:nvSpPr>
        <p:spPr>
          <a:xfrm>
            <a:off x="5989320" y="37307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Повний обхід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989320" y="4023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гарантує, що кожен вузол отримає explore і поверне echo.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ПОРІВНЯННЯ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Wave vs Echo Algorithm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2880360" cy="457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Критерій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697480" cy="457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Wave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371600"/>
            <a:ext cx="2697480" cy="457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3716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" y="1874520"/>
            <a:ext cx="2880360" cy="594360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745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Топологія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1874520"/>
            <a:ext cx="2697480" cy="594360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18745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Дерево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874520"/>
            <a:ext cx="2697480" cy="594360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8745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Довільний граф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496312"/>
            <a:ext cx="2880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49631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Ініціатор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37560" y="2496312"/>
            <a:ext cx="2697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49631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потрібен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2496312"/>
            <a:ext cx="2697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49631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вузол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1480" y="3118104"/>
            <a:ext cx="2880360" cy="594360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118104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Термінація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37560" y="3118104"/>
            <a:ext cx="2697480" cy="594360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3118104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центральні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вузли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80760" y="3118104"/>
            <a:ext cx="2697480" cy="594360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118104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ініціатор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11480" y="3739896"/>
            <a:ext cx="2880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739896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Повідомлень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37560" y="3739896"/>
            <a:ext cx="2697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373989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N−1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080760" y="3739896"/>
            <a:ext cx="2697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739896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2·|E| (worst case)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1480" y="4361688"/>
            <a:ext cx="2880360" cy="594360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36168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Цикли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337560" y="4361688"/>
            <a:ext cx="2697480" cy="594360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0" y="43616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підтримує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80760" y="4361688"/>
            <a:ext cx="2697480" cy="594360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436168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Підтримує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Тестування симуляторів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4023360" cy="329184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Wave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2057400"/>
            <a:ext cx="3474720" cy="0"/>
          </a:xfrm>
          <a:prstGeom prst="line">
            <a:avLst/>
          </a:prstGeom>
          <a:noFill/>
          <a:ln w="8890">
            <a:solidFill>
              <a:srgbClr val="3D3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1488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вузлів, дерево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листки (3,4,5) → 1,2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9436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кроків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9456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Вузли що вирішили: [1, 2]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3383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Два центральні вузли на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центральному ребрі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4023360" cy="329184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002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Algorithm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846320" y="2057400"/>
            <a:ext cx="3474720" cy="0"/>
          </a:xfrm>
          <a:prstGeom prst="line">
            <a:avLst/>
          </a:prstGeom>
          <a:noFill/>
          <a:ln w="8890">
            <a:solidFill>
              <a:srgbClr val="3D3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1488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15000" y="2148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вузли, 5 ребер (цикли)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Ініціатор — вузол 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83464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484632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кроків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Ініціатор 1 decided: True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33832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Повний обхід без зациклень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завдяки механізму parent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ВИСНОВКИ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Підсумки роботи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8321040" cy="1078992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54864" cy="10789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904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801368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Wave коректно завершив роботу за 5 кроків. Рішення прийняли вузли 1 та 2 — центральне ребро дерева. Алгоритм повністю децентралізований.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587752"/>
            <a:ext cx="8321040" cy="1078992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587752"/>
            <a:ext cx="54864" cy="10789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66090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97180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 Algorithm успішно обійшов граф з циклами за 10 кроків. Механізм фіксації parent запобіг зацикленню та забезпечив побудову остовного дерева.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758184"/>
            <a:ext cx="8321040" cy="1078992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758184"/>
            <a:ext cx="54864" cy="10789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83133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142232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Обидва симулятори реалізують асинхронну природу розподілених систем через чергу повідомлень (collections.deque), що відтворює реальну мережеву поведінку.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8188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Богдан Хохлов  ·  МД-51  ·  ХНУ ім. В.Н. Каразіна  ·  2025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Wave &amp; Echo Algorithms</dc:title>
  <dc:subject>PptxGenJS Presentation</dc:subject>
  <dc:creator>PptxGenJS</dc:creator>
  <cp:lastModifiedBy>PptxGenJS</cp:lastModifiedBy>
  <cp:revision>1</cp:revision>
  <dcterms:created xsi:type="dcterms:W3CDTF">2026-04-07T10:27:41Z</dcterms:created>
  <dcterms:modified xsi:type="dcterms:W3CDTF">2026-04-07T10:27:41Z</dcterms:modified>
</cp:coreProperties>
</file>